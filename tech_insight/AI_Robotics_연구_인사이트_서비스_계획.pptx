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58" r:id="rId4"/>
    <p:sldId id="259" r:id="rId5"/>
    <p:sldId id="260" r:id="rId6"/>
    <p:sldId id="262" r:id="rId7"/>
    <p:sldId id="268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24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84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21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411480"/>
            <a:ext cx="64008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8092440" y="640080"/>
            <a:ext cx="640080" cy="6400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PROPOSAL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599"/>
            <a:ext cx="8229600" cy="1515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Samsung </a:t>
            </a:r>
            <a:r>
              <a:rPr lang="ko-KR" altLang="en-US" sz="3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위한</a:t>
            </a:r>
            <a:endParaRPr lang="en-US" altLang="ko-KR" sz="3200" b="1" dirty="0">
              <a:solidFill>
                <a:srgbClr val="1E3A5F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ko-KR" altLang="en-US" sz="3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및 시장</a:t>
            </a:r>
            <a:r>
              <a:rPr lang="en-US" altLang="ko-KR" sz="3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Insight Service</a:t>
            </a:r>
            <a:r>
              <a:rPr lang="ko-KR" altLang="en-US" sz="3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정보과학회지·글로벌 학술 데이터 기반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 임직원·경영진을 </a:t>
            </a:r>
            <a:r>
              <a:rPr lang="en-US" sz="1400" dirty="0" err="1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위한</a:t>
            </a: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</a:t>
            </a: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인사이트</a:t>
            </a: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플랫폼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5. 18  |  </a:t>
            </a:r>
            <a:r>
              <a:rPr lang="ko-KR" altLang="en-US" sz="1100" kern="0" spc="200" dirty="0" err="1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방정욱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2961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| 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 이 서비스인가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684780"/>
            <a:ext cx="8046720" cy="987552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684780"/>
            <a:ext cx="73152" cy="98755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684780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53312" y="268478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확보의 중요성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12642" y="2849372"/>
            <a:ext cx="0" cy="65836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5551" y="2776220"/>
            <a:ext cx="4721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</a:t>
            </a:r>
            <a:r>
              <a:rPr lang="en-US" altLang="ko-KR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인사이트</a:t>
            </a:r>
            <a:r>
              <a:rPr lang="en-US" altLang="ko-KR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위해서는</a:t>
            </a:r>
            <a:r>
              <a:rPr lang="en-US" altLang="ko-KR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정제된</a:t>
            </a:r>
            <a:r>
              <a:rPr lang="en-US" altLang="ko-KR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r>
              <a:rPr lang="en-US" altLang="ko-KR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</a:t>
            </a:r>
            <a:endParaRPr lang="en-US" altLang="ko-KR" sz="1100" dirty="0"/>
          </a:p>
          <a:p>
            <a:pPr marL="342900" indent="-342900" algn="l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정보과학회지</a:t>
            </a:r>
            <a:r>
              <a:rPr lang="en-US" altLang="ko-KR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altLang="ko-KR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한국정보과학회</a:t>
            </a:r>
            <a:r>
              <a:rPr lang="en-US" altLang="ko-KR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altLang="ko-KR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한국컴퓨터정보학회</a:t>
            </a:r>
            <a:r>
              <a:rPr lang="en-US" altLang="ko-KR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자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료는 무료 공개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597279"/>
            <a:ext cx="8046720" cy="987552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97279"/>
            <a:ext cx="73152" cy="98755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1597279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53312" y="1597279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</a:rPr>
              <a:t>Insight </a:t>
            </a:r>
            <a:r>
              <a:rPr lang="ko-KR" alt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</a:rPr>
              <a:t>에 대한 갈망</a:t>
            </a:r>
            <a:endParaRPr lang="en-US" sz="1700" b="1" dirty="0">
              <a:solidFill>
                <a:srgbClr val="1E3A5F"/>
              </a:solidFill>
              <a:latin typeface="맑은 고딕" pitchFamily="34" charset="0"/>
              <a:ea typeface="맑은 고딕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12642" y="1761871"/>
            <a:ext cx="0" cy="65836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5550" y="1688719"/>
            <a:ext cx="486092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빠르게 변하는 기술을 산업계 임직원이 전부 파악하는 것은 불가능</a:t>
            </a:r>
            <a:endParaRPr lang="en-US" altLang="ko-KR" sz="1100" dirty="0">
              <a:solidFill>
                <a:srgbClr val="2D314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 algn="l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기술의 최전선에서 연구하는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학계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시각을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거인의 어깨로 활용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67328"/>
            <a:ext cx="8046720" cy="987552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67328"/>
            <a:ext cx="73152" cy="98755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767328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53312" y="3767328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</a:t>
            </a: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r>
              <a:rPr lang="en-US" sz="17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</a:t>
            </a: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612642" y="3931920"/>
            <a:ext cx="0" cy="65836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5551" y="3858768"/>
            <a:ext cx="4721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학술 인사이트가 사업 아이템과 직접 연결되지 않음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새로운 이론·기술에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 확인 필요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회사내 관련 분야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에게 인사이트 제공하여 참고하도록 지원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학술 인사이트를 사업 언어로 풀어주는 서비스가 필요한 시점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|  목표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목표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73736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</a:t>
            </a:r>
            <a:r>
              <a:rPr lang="en-US" sz="17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AI·로봇</a:t>
            </a: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7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</a:t>
            </a:r>
            <a:r>
              <a:rPr lang="ko-KR" alt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7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r>
              <a:rPr lang="ko-KR" alt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</a:t>
            </a: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즉시 큐레이션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</a:t>
            </a:r>
            <a:r>
              <a:rPr 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학술지</a:t>
            </a:r>
            <a:r>
              <a:rPr lang="ko-KR" alt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근간으로 추후 </a:t>
            </a:r>
            <a:r>
              <a:rPr lang="en-US" altLang="ko-KR" sz="12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arXiv&amp;Top</a:t>
            </a:r>
            <a:r>
              <a:rPr lang="en-US" altLang="ko-KR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Tier </a:t>
            </a:r>
            <a:r>
              <a:rPr lang="en-US" altLang="ko-KR" sz="12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학회</a:t>
            </a:r>
            <a:r>
              <a:rPr lang="ko-KR" alt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r>
              <a:rPr 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최</a:t>
            </a:r>
            <a:r>
              <a:rPr lang="ko-KR" alt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 기술 이론까지</a:t>
            </a:r>
            <a:r>
              <a:rPr 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r>
              <a:rPr 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및 </a:t>
            </a:r>
            <a:r>
              <a:rPr lang="en-US" sz="12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43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26974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새로운 기술에 대한 프로젝트 아이디어 공유 및 발전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31089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학술 인사이트가 어떤 사업부·기술과 연결되는지 자동 </a:t>
            </a:r>
            <a:r>
              <a:rPr lang="en-US" sz="12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매핑하여</a:t>
            </a:r>
            <a:r>
              <a:rPr 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</a:t>
            </a:r>
            <a:r>
              <a:rPr lang="ko-KR" alt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 검토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45920" y="36576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기술의 전세계 전문가에 대한 파악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40690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전세계 대학과 연구소의 </a:t>
            </a:r>
            <a:r>
              <a:rPr lang="en-US" altLang="ko-KR" sz="12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교수·연구실</a:t>
            </a:r>
            <a:r>
              <a:rPr lang="en-US" altLang="ko-KR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</a:t>
            </a:r>
            <a:r>
              <a:rPr lang="en-US" altLang="ko-KR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r>
              <a:rPr lang="ko-KR" alt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파악해 전문가 리스트를 제공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|  서비스 컨셉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Layer </a:t>
            </a:r>
            <a:r>
              <a:rPr lang="en-US" sz="28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</a:t>
            </a: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서비스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13258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학술 브리핑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</a:rPr>
              <a:t>Light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 새 학회지 핵심 요약 +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연관성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3931920" cy="13258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920240"/>
            <a:ext cx="5029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트렌드 추적 (3년)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21945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</a:rPr>
              <a:t>Medium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19" y="2532888"/>
            <a:ext cx="3680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AI·Robot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분야 키워드 추이.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부상&amp;소멸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시그널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931920" cy="13258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</a:t>
            </a: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매</a:t>
            </a:r>
            <a:r>
              <a:rPr lang="ko-KR" alt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칭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3703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차별화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0416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학술 신호를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사업에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매핑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Key Idea 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200400"/>
            <a:ext cx="3931920" cy="13258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429000"/>
            <a:ext cx="5029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AI/Robot 연구 지도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0" y="3703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19" y="4041648"/>
            <a:ext cx="37033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교수·연구실 활동 영역 시각화.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산학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협력&amp;인재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|  차별화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</a:rPr>
              <a:t>왜 이 서비스가 중요한가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73152" cy="8686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</a:t>
            </a:r>
            <a:r>
              <a:rPr lang="en-US" sz="16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학술</a:t>
            </a: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근간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</a:t>
            </a:r>
            <a:r>
              <a:rPr lang="ko-KR" alt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관련 세계적 수준인 </a:t>
            </a:r>
            <a:r>
              <a:rPr lang="en-US" sz="11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</a:t>
            </a:r>
            <a:r>
              <a:rPr 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학계</a:t>
            </a:r>
            <a:r>
              <a:rPr 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시각을</a:t>
            </a:r>
            <a:r>
              <a:rPr 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적극 활용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8046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97480"/>
            <a:ext cx="73152" cy="8686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163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맥락 자동 매핑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59" y="3154680"/>
            <a:ext cx="78035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요약이 아닌 "누구의 어떤 사업과 </a:t>
            </a:r>
            <a:r>
              <a:rPr lang="en-US" sz="11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연결되는가"까지</a:t>
            </a:r>
            <a:r>
              <a:rPr 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</a:t>
            </a:r>
            <a:r>
              <a:rPr lang="ko-KR" alt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제공하는 </a:t>
            </a:r>
            <a:r>
              <a:rPr lang="en-US" altLang="ko-KR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Idea Push </a:t>
            </a:r>
            <a:r>
              <a:rPr lang="ko-KR" alt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57600"/>
            <a:ext cx="73152" cy="8686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764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</a:t>
            </a:r>
            <a:r>
              <a:rPr lang="ko-KR" alt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후행 데이터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114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언론사를 통해 제공되는 </a:t>
            </a:r>
            <a:r>
              <a:rPr lang="en-US" sz="11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</a:t>
            </a:r>
            <a:r>
              <a:rPr lang="ko-KR" alt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상황이 발생한 후 기자들이 정리한 자료이며</a:t>
            </a:r>
            <a:r>
              <a:rPr lang="en-US" altLang="ko-KR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전문성이 부족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메시지: “</a:t>
            </a:r>
            <a:r>
              <a:rPr lang="ko-KR" alt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부족한 기술 데이터 </a:t>
            </a:r>
            <a:r>
              <a:rPr lang="en-US" sz="1200" i="1" dirty="0" err="1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사각지대를</a:t>
            </a: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i="1" dirty="0" err="1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</a:t>
            </a: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학술 자료를 활용하여 우선적</a:t>
            </a:r>
            <a:r>
              <a:rPr lang="en-US" sz="1200" i="1" dirty="0" err="1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채운다"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|  아키텍처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구조 (End-to-End 파이프라인)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737360"/>
            <a:ext cx="1554480" cy="20116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" y="196596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9372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RSS, PDF, </a:t>
            </a:r>
            <a:r>
              <a:rPr lang="en-US" altLang="ko-KR" sz="950" dirty="0" err="1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arXiv</a:t>
            </a:r>
            <a:r>
              <a:rPr lang="en-US" altLang="ko-KR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API</a:t>
            </a: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크롤링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65960" y="25146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103120" y="1737360"/>
            <a:ext cx="1554480" cy="20116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196596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9456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파싱·인덱싱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Upstage Parse, BGE-M3, Chroma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0" y="25146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794760" y="1737360"/>
            <a:ext cx="1554480" cy="20116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0540" y="196596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3205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8620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엔진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8620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BERTopic, LLM 사업 매핑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49240" y="25146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486400" y="1737360"/>
            <a:ext cx="1554480" cy="20116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12180" y="196596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0121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7784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인사이트 생성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프롬프트, 출처 인용, 태깅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0880" y="25146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178040" y="1737360"/>
            <a:ext cx="1554480" cy="20116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03820" y="196596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77038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6948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948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메일, 챗봇, 대시보드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42009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</a:t>
            </a:r>
            <a:r>
              <a:rPr lang="en-US" sz="1200" i="1" dirty="0" err="1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en-US" sz="1200" i="1" dirty="0" err="1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</a:t>
            </a: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7B) + 필요 시 Claude/GPT API </a:t>
            </a:r>
            <a:r>
              <a:rPr lang="en-US" sz="1200" i="1" dirty="0" err="1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718395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소스 확장 전략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2900" y="1198455"/>
            <a:ext cx="84353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한국에서 손쉽게 구할 수 있는 자료부터 단계적으로 확장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342900" y="1773342"/>
            <a:ext cx="1988820" cy="2942078"/>
          </a:xfrm>
          <a:prstGeom prst="rect">
            <a:avLst/>
          </a:prstGeom>
          <a:solidFill>
            <a:srgbClr val="FAFB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" y="1773342"/>
            <a:ext cx="19888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3372"/>
            <a:ext cx="514350" cy="51435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13372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65860" y="2047662"/>
            <a:ext cx="1028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25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1165860" y="2219112"/>
            <a:ext cx="1028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699172"/>
            <a:ext cx="15773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핵심 학회지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3042072"/>
            <a:ext cx="15773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시작 · 최소 노력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548640" y="3316392"/>
            <a:ext cx="15773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53552"/>
            <a:ext cx="1813560" cy="118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750"/>
              </a:spcAft>
              <a:buSzPct val="100000"/>
              <a:buChar char="■"/>
            </a:pPr>
            <a:r>
              <a:rPr lang="en-US" sz="900" dirty="0" err="1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정보과학회지</a:t>
            </a:r>
            <a:endParaRPr lang="en-US" sz="900" dirty="0"/>
          </a:p>
          <a:p>
            <a:pPr marL="257175" indent="-257175">
              <a:spcAft>
                <a:spcPts val="750"/>
              </a:spcAft>
              <a:buSzPct val="100000"/>
              <a:buChar char="■"/>
            </a:pPr>
            <a:r>
              <a:rPr lang="en-US" sz="900" dirty="0" err="1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한국정보과학회</a:t>
            </a: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900" dirty="0"/>
          </a:p>
          <a:p>
            <a:pPr marL="257175" indent="-257175">
              <a:spcAft>
                <a:spcPts val="750"/>
              </a:spcAft>
              <a:buSzPct val="100000"/>
              <a:buChar char="■"/>
            </a:pPr>
            <a:r>
              <a:rPr lang="en-US" sz="900" dirty="0" err="1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한국컴퓨터정보학회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1773342"/>
            <a:ext cx="1988820" cy="2942078"/>
          </a:xfrm>
          <a:prstGeom prst="rect">
            <a:avLst/>
          </a:prstGeom>
          <a:solidFill>
            <a:srgbClr val="FAFB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1773342"/>
            <a:ext cx="1988820" cy="54864"/>
          </a:xfrm>
          <a:prstGeom prst="rect">
            <a:avLst/>
          </a:prstGeom>
          <a:solidFill>
            <a:srgbClr val="2E4A8F"/>
          </a:solidFill>
          <a:ln/>
        </p:spPr>
      </p:sp>
      <p:sp>
        <p:nvSpPr>
          <p:cNvPr id="17" name="Shape 15"/>
          <p:cNvSpPr/>
          <p:nvPr/>
        </p:nvSpPr>
        <p:spPr>
          <a:xfrm>
            <a:off x="2674620" y="2013372"/>
            <a:ext cx="514350" cy="514350"/>
          </a:xfrm>
          <a:prstGeom prst="ellipse">
            <a:avLst/>
          </a:prstGeom>
          <a:solidFill>
            <a:srgbClr val="2E4A8F"/>
          </a:solidFill>
          <a:ln/>
        </p:spPr>
      </p:sp>
      <p:sp>
        <p:nvSpPr>
          <p:cNvPr id="18" name="Text 16"/>
          <p:cNvSpPr/>
          <p:nvPr/>
        </p:nvSpPr>
        <p:spPr>
          <a:xfrm>
            <a:off x="2674620" y="2013372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291840" y="2047662"/>
            <a:ext cx="1028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25" dirty="0">
                <a:solidFill>
                  <a:srgbClr val="2E4A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291840" y="2219112"/>
            <a:ext cx="1028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74620" y="2699172"/>
            <a:ext cx="15773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범위 </a:t>
            </a:r>
            <a:r>
              <a:rPr lang="en-US" sz="1350" b="1" dirty="0" err="1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674620" y="3042072"/>
            <a:ext cx="15773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 dirty="0">
                <a:solidFill>
                  <a:srgbClr val="2E4A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보강 · 분야 다양화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2674620" y="3316392"/>
            <a:ext cx="15773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4620" y="3453552"/>
            <a:ext cx="1577340" cy="971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750"/>
              </a:spcAft>
              <a:buSzPct val="100000"/>
              <a:buFontTx/>
              <a:buChar char="■"/>
            </a:pPr>
            <a:r>
              <a:rPr lang="ko-KR" altLang="en-US" sz="9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선진</a:t>
            </a:r>
            <a:r>
              <a:rPr lang="en-US" altLang="ko-KR" sz="9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9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연구소</a:t>
            </a:r>
            <a:r>
              <a:rPr lang="en-US" altLang="ko-KR" sz="9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9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</a:t>
            </a:r>
            <a:r>
              <a:rPr lang="en-US" altLang="ko-KR" sz="9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(Anthropic, DeepMind, </a:t>
            </a:r>
            <a:r>
              <a:rPr lang="en-US" altLang="ko-KR" sz="9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</a:t>
            </a:r>
            <a:r>
              <a:rPr lang="en-US" altLang="ko-KR" sz="9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94860" y="1773342"/>
            <a:ext cx="1988820" cy="2942078"/>
          </a:xfrm>
          <a:prstGeom prst="rect">
            <a:avLst/>
          </a:prstGeom>
          <a:solidFill>
            <a:srgbClr val="FAFB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4860" y="1773342"/>
            <a:ext cx="1988820" cy="54864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0600" y="2013372"/>
            <a:ext cx="514350" cy="51435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013372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5417820" y="2047662"/>
            <a:ext cx="1028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25" dirty="0">
                <a:solidFill>
                  <a:srgbClr val="4A6F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5417820" y="2219112"/>
            <a:ext cx="1028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699172"/>
            <a:ext cx="15773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 연구실 직접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800600" y="3042072"/>
            <a:ext cx="15773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 dirty="0">
                <a:solidFill>
                  <a:srgbClr val="4A6F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최신성 · 깊이 강화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4800600" y="3316392"/>
            <a:ext cx="15773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453552"/>
            <a:ext cx="1714500" cy="118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750"/>
              </a:spcAft>
              <a:buSzPct val="100000"/>
              <a:buChar char="■"/>
            </a:pP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SNU·KAIST·POSTECH·UNIST 교수 페이지</a:t>
            </a:r>
            <a:endParaRPr lang="en-US" sz="900" dirty="0"/>
          </a:p>
          <a:p>
            <a:pPr marL="257175" indent="-257175">
              <a:spcAft>
                <a:spcPts val="750"/>
              </a:spcAft>
              <a:buSzPct val="100000"/>
              <a:buChar char="■"/>
            </a:pP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연구실 GitHub·홈페이지</a:t>
            </a:r>
            <a:endParaRPr lang="en-US" sz="900" dirty="0"/>
          </a:p>
          <a:p>
            <a:pPr marL="257175" indent="-257175">
              <a:spcAft>
                <a:spcPts val="750"/>
              </a:spcAft>
              <a:buSzPct val="100000"/>
              <a:buChar char="■"/>
            </a:pP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DBpia·RISS 박사논문 초록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20840" y="1773342"/>
            <a:ext cx="1988820" cy="2942078"/>
          </a:xfrm>
          <a:prstGeom prst="rect">
            <a:avLst/>
          </a:prstGeom>
          <a:solidFill>
            <a:srgbClr val="FAFB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0840" y="1773342"/>
            <a:ext cx="1988820" cy="54864"/>
          </a:xfrm>
          <a:prstGeom prst="rect">
            <a:avLst/>
          </a:prstGeom>
          <a:solidFill>
            <a:srgbClr val="6B8DBF"/>
          </a:solidFill>
          <a:ln/>
        </p:spPr>
      </p:sp>
      <p:sp>
        <p:nvSpPr>
          <p:cNvPr id="37" name="Shape 35"/>
          <p:cNvSpPr/>
          <p:nvPr/>
        </p:nvSpPr>
        <p:spPr>
          <a:xfrm>
            <a:off x="6926580" y="2013372"/>
            <a:ext cx="514350" cy="514350"/>
          </a:xfrm>
          <a:prstGeom prst="ellipse">
            <a:avLst/>
          </a:prstGeom>
          <a:solidFill>
            <a:srgbClr val="6B8DBF"/>
          </a:solidFill>
          <a:ln/>
        </p:spPr>
      </p:sp>
      <p:sp>
        <p:nvSpPr>
          <p:cNvPr id="38" name="Text 36"/>
          <p:cNvSpPr/>
          <p:nvPr/>
        </p:nvSpPr>
        <p:spPr>
          <a:xfrm>
            <a:off x="6926580" y="2013372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7543800" y="2047662"/>
            <a:ext cx="1028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25" dirty="0">
                <a:solidFill>
                  <a:srgbClr val="6B8D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7543800" y="2219112"/>
            <a:ext cx="1028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26580" y="2699172"/>
            <a:ext cx="15773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비교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926580" y="3042072"/>
            <a:ext cx="15773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 dirty="0">
                <a:solidFill>
                  <a:srgbClr val="6B8D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차별화 · 인사이트 심화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6926580" y="3316392"/>
            <a:ext cx="15773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26580" y="3453552"/>
            <a:ext cx="1577340" cy="118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750"/>
              </a:spcAft>
              <a:buSzPct val="100000"/>
              <a:buChar char="■"/>
            </a:pP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arXiv (cs.AI, cs.LG, cs.CL)</a:t>
            </a:r>
            <a:endParaRPr lang="en-US" sz="900" dirty="0"/>
          </a:p>
          <a:p>
            <a:pPr marL="257175" indent="-257175">
              <a:spcAft>
                <a:spcPts val="750"/>
              </a:spcAft>
              <a:buSzPct val="100000"/>
              <a:buChar char="■"/>
            </a:pP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NeurIPS, ICML, ACL, CVPR</a:t>
            </a:r>
            <a:endParaRPr lang="en-US" sz="900" dirty="0"/>
          </a:p>
          <a:p>
            <a:pPr marL="257175" indent="-257175">
              <a:spcAft>
                <a:spcPts val="750"/>
              </a:spcAft>
              <a:buSzPct val="100000"/>
              <a:buChar char="■"/>
            </a:pP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ACM Communications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2900" y="4800600"/>
            <a:ext cx="8435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1만으로도 PoC 시작 가능. 검증된 한국어 자료가 매월 </a:t>
            </a:r>
            <a:r>
              <a:rPr lang="en-US" sz="9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</a:t>
            </a:r>
            <a:endParaRPr lang="en-US" sz="900" dirty="0"/>
          </a:p>
        </p:txBody>
      </p:sp>
      <p:sp>
        <p:nvSpPr>
          <p:cNvPr id="46" name="Text 0">
            <a:extLst>
              <a:ext uri="{FF2B5EF4-FFF2-40B4-BE49-F238E27FC236}">
                <a16:creationId xmlns:a16="http://schemas.microsoft.com/office/drawing/2014/main" id="{EE57F03E-D25C-46F6-99DD-2A4E7567B1F2}"/>
              </a:ext>
            </a:extLst>
          </p:cNvPr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|  </a:t>
            </a:r>
            <a:r>
              <a:rPr lang="ko-KR" alt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확보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074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|  활용 시나리오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사용자별 다른 인터페이스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8686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013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임원·경영진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1페이지 Brief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0" y="181051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"이번 달 AI·로봇 분야 3대 시그널과 우리 사업 시사점"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1488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</a:t>
            </a: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·PDF로 자동 수신. 사업 매핑 한 줄 포함.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8046720" cy="8686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51760"/>
            <a:ext cx="731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614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기획·전략 부서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대시보드 + 알림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277063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"부상 키워드 TOP 5 + 관련 한국 연구실 + 인용 추이"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31089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매핑 변동 발생 시 즉시 알림.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8046720" cy="8686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11880"/>
            <a:ext cx="731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216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R&amp;D 실무자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챗봇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0" y="373075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"최근 1년 멀티모달 LLM 한국 연구 동향 정리해줘"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4069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출처·원문 링크 포함 자연어 응답.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백엔드, 세 가지 인터페이스 — 각 사용자가 자신에게 맞는 깊이로 소비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|  일정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3개월 단계적 개발 계획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9260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2926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1개월차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 파이프라인 + 단순 브리핑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정보과학회지 최근 3년분 수집·인덱싱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학술 브리핑 </a:t>
            </a:r>
            <a:r>
              <a:rPr lang="en-US" sz="10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ko-KR" alt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기술전략팀내 </a:t>
            </a: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5~6명 시범 사용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606040" cy="29260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691640"/>
            <a:ext cx="73152" cy="2926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920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2개월차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6616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트렌드 분석 + 데이터 확장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3832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ko-KR" alt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국내외</a:t>
            </a: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</a:t>
            </a:r>
            <a:r>
              <a:rPr lang="en-US" sz="10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추가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BERTopic 기반 </a:t>
            </a:r>
            <a:r>
              <a:rPr lang="en-US" sz="10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추이</a:t>
            </a: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부상 신호 자동 탐지 알림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2606040" cy="29260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691640"/>
            <a:ext cx="73152" cy="29260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920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3개월차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매핑 + 사내 시범 운영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383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 사업부 카테고리 사전 구축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기반 사업 </a:t>
            </a:r>
            <a:r>
              <a:rPr lang="en-US" sz="10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매핑</a:t>
            </a: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SR내</a:t>
            </a: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시범 부서 운영·피드백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 |  기대 효과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정량적·정성적 임팩트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544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42185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조사 시간 절감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534793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리서치 업무 기준 가정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2606040" cy="15544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242185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산학 협력 후보 </a:t>
            </a:r>
            <a:r>
              <a:rPr lang="en-US" sz="12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</a:t>
            </a:r>
            <a:r>
              <a:rPr lang="en-US" sz="1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5</a:t>
            </a:r>
            <a:r>
              <a:rPr lang="ko-KR" altLang="en-US" sz="1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</a:t>
            </a:r>
            <a:r>
              <a:rPr lang="en-US" sz="1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534793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매핑 기반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691640"/>
            <a:ext cx="2606040" cy="15544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242185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AI·로봇</a:t>
            </a:r>
            <a:r>
              <a:rPr lang="en-US" sz="1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r>
              <a:rPr lang="en-US" sz="1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</a:t>
            </a:r>
            <a:r>
              <a:rPr lang="en-US" sz="1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534793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학계 + </a:t>
            </a:r>
            <a:r>
              <a:rPr lang="ko-KR" alt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학계 </a:t>
            </a:r>
            <a:r>
              <a:rPr lang="en-US" sz="950" dirty="0" err="1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정성적 효과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임원의 학술 정보 접근성 향상 — "읽을 시간 없다"의 해결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사업부 간 연구 인사이트 공유 — 단절된 분야의 연결 가능성 발견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학계 시각의 자산화 — 글로벌 도구로 대체 불가능한 영역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 |  리스크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리스크 및 대응 방안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9144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28800"/>
            <a:ext cx="64008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18105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환각(hallucination) 위험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임팩트: 잘못된 학술 요약은 신뢰도를 단번에 무너뜨림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36829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대응: 모든 인사이트에 원문 인용 + </a:t>
            </a:r>
            <a:r>
              <a:rPr lang="en-US" sz="1100" b="1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</a:t>
            </a: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명시</a:t>
            </a: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RAG retrieve </a:t>
            </a:r>
            <a:r>
              <a:rPr lang="en-US" sz="1100" b="1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</a:t>
            </a: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8046720" cy="91440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97480"/>
            <a:ext cx="73152" cy="9144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834640"/>
            <a:ext cx="64008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34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28163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 이슈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1546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임팩트: 학술지 본문은 저작권 보호. 무단 인용 시 법적 리스크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337413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대응: 사내 한정 사용. 15단어 이하 </a:t>
            </a:r>
            <a:r>
              <a:rPr lang="en-US" sz="1100" b="1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인용·패러프레이즈</a:t>
            </a: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</a:t>
            </a: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100" b="1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8046720" cy="91440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03320"/>
            <a:ext cx="73152" cy="9144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840480"/>
            <a:ext cx="64008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38221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채택 불확실성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1605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임팩트: </a:t>
            </a:r>
            <a:r>
              <a:rPr lang="en-US" sz="1050" dirty="0" err="1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임원이</a:t>
            </a: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매</a:t>
            </a:r>
            <a:r>
              <a:rPr lang="ko-KR" alt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학술 브리핑을 진짜 읽을지 미지수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437997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대응: </a:t>
            </a:r>
            <a:r>
              <a:rPr lang="en-US" sz="1100" b="1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임원·실무자</a:t>
            </a:r>
            <a:r>
              <a:rPr lang="ko-KR" alt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 정보 제공</a:t>
            </a: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</a:t>
            </a: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en-US" sz="1100" b="1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임원</a:t>
            </a:r>
            <a:r>
              <a:rPr lang="ko-KR" alt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</a:t>
            </a: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1페이지 </a:t>
            </a:r>
            <a:r>
              <a:rPr lang="ko-KR" alt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요약본 제공</a:t>
            </a: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100" b="1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실무자는</a:t>
            </a: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</a:t>
            </a:r>
            <a:r>
              <a:rPr lang="en-US" sz="110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 |  다음 단계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 사항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114300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1143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305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</a:t>
            </a: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정보과학회지·한국 학회지 PDF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</a:t>
            </a:r>
            <a:endParaRPr lang="en-US" altLang="ko-KR" sz="1100" dirty="0">
              <a:solidFill>
                <a:srgbClr val="2D314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외국 </a:t>
            </a:r>
            <a:r>
              <a:rPr lang="ko-KR" alt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학회지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접근 권한 확인 필요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3931920" cy="114300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691640"/>
            <a:ext cx="73152" cy="1143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856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1305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사업부 카테고리 정의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분류 체계 마련. 1차안 후 사업부 검토 필요.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14300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71800"/>
            <a:ext cx="73152" cy="1143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36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410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 부서 선정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기술전략팀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개발 조직으로 확대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971800"/>
            <a:ext cx="3931920" cy="114300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971800"/>
            <a:ext cx="73152" cy="1143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136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410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인프라·예산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92039" y="3749040"/>
            <a:ext cx="36127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Office </a:t>
            </a:r>
            <a:r>
              <a:rPr lang="en-US" sz="110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</a:t>
            </a: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Claude API (월 10~20만원 추정).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1002</Words>
  <Application>Microsoft Office PowerPoint</Application>
  <PresentationFormat>화면 슬라이드 쇼(16:9)</PresentationFormat>
  <Paragraphs>204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AI·Robotics 연구 인사이트 서비스</dc:title>
  <dc:subject>PptxGenJS Presentation</dc:subject>
  <dc:creator>방</dc:creator>
  <cp:lastModifiedBy>방정욱/기술기획1그룹(SR)/삼성전자</cp:lastModifiedBy>
  <cp:revision>115</cp:revision>
  <dcterms:created xsi:type="dcterms:W3CDTF">2026-05-17T14:54:49Z</dcterms:created>
  <dcterms:modified xsi:type="dcterms:W3CDTF">2026-05-18T04:35:02Z</dcterms:modified>
</cp:coreProperties>
</file>