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2028" y="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366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320040"/>
            <a:ext cx="502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8092440" y="594360"/>
            <a:ext cx="502920" cy="5029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PROPOSAL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Samsung 을 위한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 err="1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r>
              <a:rPr lang="en-US" sz="4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Insight Service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학술 메타데이터 시계열 분석 기반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삼성전자 임직원·경영진을 위한 기술 인사이트 플랫폼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5. 18   |   방정욱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|  배경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이 서비스인가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9875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54480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53312" y="1554480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과부하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593592" y="1719072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6472" y="1645920"/>
            <a:ext cx="4636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수십 편의 신규 논문 발행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임직원 누구도 다 따라가지 못함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큐레이션이 필요한 시점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60904"/>
            <a:ext cx="73152" cy="9875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60904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53312" y="2660904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패턴이 진짜 가치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93592" y="2825496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2752344"/>
            <a:ext cx="4636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논문 본문보다 시계열 누적 패턴이 큰 인사이트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추이·부상 신호·저자 네트워크가 핵심 신호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깊은 요약 없이도 강력한 결과 도출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67328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67328"/>
            <a:ext cx="73152" cy="9875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767328"/>
            <a:ext cx="640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53312" y="3767328"/>
            <a:ext cx="2194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학계의 사각지대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593592" y="3931920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3858768"/>
            <a:ext cx="4636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AI 도구도 한국 학회지는 분석하지 못함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 자료는 흔하지만 한국어 학술 인사이트는 공백</a:t>
            </a:r>
            <a:endParaRPr lang="en-US" sz="1100" dirty="0"/>
          </a:p>
          <a:p>
            <a:pPr marL="342900" indent="-342900" algn="l">
              <a:spcAft>
                <a:spcPts val="200"/>
              </a:spcAft>
              <a:buSzPct val="100000"/>
              <a:buChar char="●"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차별화된 정보 자산 확보 가능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학술 인사이트를 사업 언어로 풀어주는 서비스가 필요한 시점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|  목표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7647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AI·로봇 학계 메타 트렌드를 5분 안에 파악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83080" y="2130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키워드 추이·부상 토픽·저자 네트워크를 자동 분석해 임원이 즉시 확인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783080" y="2633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부상·소멸 신호 자동 감지로 의사결정 가속화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83080" y="29992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시그널을 조기에 포착하고 사업·전략 검토 시점을 앞당김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350215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확장으로 검증 후 사업 매핑까지 확대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783080" y="38679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메타 트렌드 → Phase 2 정책 트랙 → Phase 3 사업 매핑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|  서비스 컨셉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확장 — 3 Phase 접근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987552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19072"/>
            <a:ext cx="960120" cy="2743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19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· 1~2개월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트렌드 대시보드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1719072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916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only (제목·저자·키워드·연월) 기반. 시계열 키워드 추이·부상 신호·저자 네트워크 시각화. 본문 깊은 요약 없음 → 환각 위험 최소.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60904"/>
            <a:ext cx="73152" cy="9875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2825496"/>
            <a:ext cx="9601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8254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8254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· 3~4개월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1181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정책·전략 문서 알림 트랙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06240" y="2825496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798064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K-문샷 같은 정부·정책·전략 문서를 별도 트랙으로 분리해 자동 알림. 데이터 소스 확장 (한국 학계 → 글로벌 비교).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8046720" cy="987552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67328"/>
            <a:ext cx="73152" cy="987552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931920"/>
            <a:ext cx="960120" cy="27432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후 · 5개월~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245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논문 사업 매핑 (검증 후)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06240" y="3931920"/>
            <a:ext cx="0" cy="65836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390448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기반 학술 인사이트의 삼성 사업부 자동 매핑. 임원용 한 줄 브리프 생성. 본문 인용은 저작권 한도 내 (15단어 이하·패러프레이즈).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1만으로도 임원 가치 입증 가능 · 단계별 검증 후 확장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|  차별화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메타데이터 우선 전략인가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7772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위험 최소화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깊은 요약을 안 하므로 LLM 환각 가능성 거의 0. 메타데이터는 정확성이 보장된 사실 데이터.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804672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06040"/>
            <a:ext cx="73152" cy="7772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패턴 = 진짜 인사이트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논문 본문보다 시계열 키워드 추이·저자 네트워크·분야 융합도가 사업 의사결정에 더 직결.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8046720" cy="7772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20440"/>
            <a:ext cx="73152" cy="77724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가치 입증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1~2개월 MVP로 임원이 즉시 가치 확인 가능. 사용자 피드백 받은 후 단계적 확장.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메시지: 본문보다 패턴, 깊이보다 누적 — 안전하게 빠르게 가치 입증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| 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 (Phase 1 기준)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9516" y="1828800"/>
            <a:ext cx="141732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6716" y="199339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156716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수집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5236" y="2880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자동 다운로드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RSS·크롤링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53412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81428" y="1828800"/>
            <a:ext cx="141732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38628" y="199339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2738628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1428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추출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27148" y="2880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제목·저자·키워드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연월·소속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35324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63340" y="1828800"/>
            <a:ext cx="141732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0540" y="199339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4320540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63340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인덱싱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09060" y="2880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DuckDB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 DB 구축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17236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45252" y="1828800"/>
            <a:ext cx="141732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2452" y="199339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902452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5252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분석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90972" y="2880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BERTopic·시계열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부상 신호 탐지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99148" y="2423160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027164" y="1828800"/>
            <a:ext cx="1417320" cy="146304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84364" y="1993392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Text 28"/>
          <p:cNvSpPr/>
          <p:nvPr/>
        </p:nvSpPr>
        <p:spPr>
          <a:xfrm>
            <a:off x="7484364" y="1993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27164" y="26060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72884" y="2880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대시보드·알림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실행 (Qwen 7B 옵션) + Phase 3 진입 시 Claude/GPT API 병행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|  데이터 확보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 확장 전략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한국에서 손쉽게 구할 수 있는 자료부터 단계적으로 확장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" y="1737360"/>
            <a:ext cx="1920240" cy="26974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737360"/>
            <a:ext cx="1920240" cy="640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" y="196596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61872" y="1993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61872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" y="26060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핵심 학회지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" y="2944368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시작 · 최소 노력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9224" y="3246120"/>
            <a:ext cx="159105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" y="3364992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정보과학회지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한국정보과학회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한국컴퓨터정보학회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9464" y="1737360"/>
            <a:ext cx="1920240" cy="26974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9464" y="1737360"/>
            <a:ext cx="1920240" cy="64008"/>
          </a:xfrm>
          <a:prstGeom prst="rect">
            <a:avLst/>
          </a:prstGeom>
          <a:solidFill>
            <a:srgbClr val="2E4A8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34056" y="1965960"/>
            <a:ext cx="502920" cy="502920"/>
          </a:xfrm>
          <a:prstGeom prst="ellipse">
            <a:avLst/>
          </a:prstGeom>
          <a:solidFill>
            <a:srgbClr val="2E4A8F"/>
          </a:solidFill>
          <a:ln/>
        </p:spPr>
      </p:sp>
      <p:sp>
        <p:nvSpPr>
          <p:cNvPr id="18" name="Text 16"/>
          <p:cNvSpPr/>
          <p:nvPr/>
        </p:nvSpPr>
        <p:spPr>
          <a:xfrm>
            <a:off x="273405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46704" y="1993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2E4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46704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34056" y="26060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범위 확장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34056" y="2944368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2E4A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보강 · 분야 다양화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34056" y="3246120"/>
            <a:ext cx="159105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34056" y="3364992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선진 연구소 블로그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Anthropic·DeepMind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 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54296" y="1737360"/>
            <a:ext cx="1920240" cy="26974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4296" y="1737360"/>
            <a:ext cx="1920240" cy="64008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27" name="Shape 25"/>
          <p:cNvSpPr/>
          <p:nvPr/>
        </p:nvSpPr>
        <p:spPr>
          <a:xfrm>
            <a:off x="4818888" y="1965960"/>
            <a:ext cx="502920" cy="5029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31536" y="1993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4A6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31536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18888" y="26060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대학 연구실 직접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18888" y="2944368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6FA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최신성 · 깊이 강화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18888" y="3246120"/>
            <a:ext cx="159105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3364992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SNU·KAIST·POSTECH·UNIST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연구실 GitHub·홈페이지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DBpia·RISS 박사논문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39128" y="1737360"/>
            <a:ext cx="1920240" cy="26974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39128" y="1737360"/>
            <a:ext cx="1920240" cy="64008"/>
          </a:xfrm>
          <a:prstGeom prst="rect">
            <a:avLst/>
          </a:prstGeom>
          <a:solidFill>
            <a:srgbClr val="6B8DBF"/>
          </a:solidFill>
          <a:ln/>
        </p:spPr>
      </p:sp>
      <p:sp>
        <p:nvSpPr>
          <p:cNvPr id="37" name="Shape 35"/>
          <p:cNvSpPr/>
          <p:nvPr/>
        </p:nvSpPr>
        <p:spPr>
          <a:xfrm>
            <a:off x="6903720" y="1965960"/>
            <a:ext cx="502920" cy="502920"/>
          </a:xfrm>
          <a:prstGeom prst="ellipse">
            <a:avLst/>
          </a:prstGeom>
          <a:solidFill>
            <a:srgbClr val="6B8DBF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516368" y="1993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B8D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STAGE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516368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03720" y="26060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비교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903720" y="2944368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B8D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 · 인사이트 심화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03720" y="3246120"/>
            <a:ext cx="1591056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364992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arXiv (cs.AI, cs.LG, cs.CL)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NeurIPS·ICML·ACL·CVPR</a:t>
            </a:r>
            <a:endParaRPr lang="en-US" sz="100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ACM Communications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1만으로도 PoC 시작 가능 · 검증된 한국어 자료가 매월 자동 누적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|  활용 시나리오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사용자별 다른 인터페이스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8229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임원·경영진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1페이지 시각화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691640"/>
            <a:ext cx="0" cy="54864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664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"이번 달 부상 키워드 TOP 5와 한국 학계 동향 한눈에"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19751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차트 중심 · 본문 요약 없음 · 5분 안에 소비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8046720" cy="82296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14600"/>
            <a:ext cx="73152" cy="8229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24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기획·전략 부서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935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주간 대시보드 + 알림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71800" y="2651760"/>
            <a:ext cx="0" cy="54864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6243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"부상 신호 발생 시 즉시 Push, 키워드 시계열 탐색"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54680" y="29352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시그널 조기 감지 · 사업 검토 시점 단축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474720"/>
            <a:ext cx="73152" cy="82296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584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R&amp;D 실무자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895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탐색·검색 UI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71800" y="3611880"/>
            <a:ext cx="0" cy="54864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3584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"최근 1년 멀티모달 LLM 한국 연구 동향 보여줘"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54680" y="3895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메타데이터 기반 탐색 · Phase 3에서 RAG 챗봇 확장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백엔드, 세 가지 인터페이스 — 각 사용자가 자신에게 맞는 깊이로 소비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|  일정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Phase별 개발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691640"/>
            <a:ext cx="2606040" cy="27432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" y="1691640"/>
            <a:ext cx="73152" cy="274320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Shape 4"/>
          <p:cNvSpPr/>
          <p:nvPr/>
        </p:nvSpPr>
        <p:spPr>
          <a:xfrm>
            <a:off x="699516" y="1920240"/>
            <a:ext cx="1005840" cy="2743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69364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1~2개월차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9516" y="2313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" y="2606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시계열 트렌드 대시보드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9516" y="3154680"/>
            <a:ext cx="2148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정보과학회지 최근 3년 메타데이터 수집</a:t>
            </a:r>
            <a:endParaRPr lang="en-US" sz="105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추이·부상 신호 자동 탐지</a:t>
            </a:r>
            <a:endParaRPr lang="en-US" sz="105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임원용 월간 1페이지 시각화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8980" y="1691640"/>
            <a:ext cx="2606040" cy="27432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8980" y="1691640"/>
            <a:ext cx="73152" cy="2743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3497580" y="1920240"/>
            <a:ext cx="100584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49758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67428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3~4개월차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97580" y="2313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97580" y="2606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트랙·데이터 확장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97580" y="3154680"/>
            <a:ext cx="2148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7580" y="3246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K-문샷 등 </a:t>
            </a: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정책·전략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50" dirty="0" err="1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분리</a:t>
            </a:r>
            <a:endParaRPr lang="en-US" sz="105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소스 Stage 2 추가</a:t>
            </a:r>
            <a:endParaRPr lang="en-US" sz="105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기획·전략팀 시범 운영·피드백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67044" y="1691640"/>
            <a:ext cx="2606040" cy="274320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67044" y="1691640"/>
            <a:ext cx="73152" cy="274320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24" name="Shape 22"/>
          <p:cNvSpPr/>
          <p:nvPr/>
        </p:nvSpPr>
        <p:spPr>
          <a:xfrm>
            <a:off x="6295644" y="1920240"/>
            <a:ext cx="1005840" cy="274320"/>
          </a:xfrm>
          <a:prstGeom prst="rect">
            <a:avLst/>
          </a:prstGeom>
          <a:solidFill>
            <a:srgbClr val="4A90A4"/>
          </a:solidFill>
          <a:ln/>
        </p:spPr>
      </p:sp>
      <p:sp>
        <p:nvSpPr>
          <p:cNvPr id="25" name="Text 23"/>
          <p:cNvSpPr/>
          <p:nvPr/>
        </p:nvSpPr>
        <p:spPr>
          <a:xfrm>
            <a:off x="6295644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5492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5~6개월차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95644" y="2313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95644" y="26060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매핑 (검증 후)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95644" y="3154680"/>
            <a:ext cx="2148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95643" y="3246120"/>
            <a:ext cx="24123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사업부 카테고리 사전 구축</a:t>
            </a:r>
            <a:endParaRPr lang="en-US" sz="105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기반 사업 연관성 매핑</a:t>
            </a:r>
            <a:endParaRPr lang="en-US" sz="1050" dirty="0"/>
          </a:p>
          <a:p>
            <a:pPr marL="342900" indent="-342900" algn="l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 한 줄 브리프 자동 생성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90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Phase 종료 시 검증 → 다음 Phase 진행 여부 결정 (Stage Gate)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|  기대 효과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정량적·정성적 임팩트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783080"/>
            <a:ext cx="2606040" cy="141732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" y="1947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70916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트렌드 파악 시간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시간 → 1페이지 요약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8980" y="1783080"/>
            <a:ext cx="2606040" cy="141732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8980" y="1947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3~6개월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6898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부상 신호 조기 감지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898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검토 시점 단축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7044" y="1783080"/>
            <a:ext cx="2606040" cy="141732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7044" y="19476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67044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학계 데이터 자산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67044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도구로 대체 불가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정성적 효과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임원의 학술 정보 접근성 향상 — "읽을 시간 없다"의 해결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학계 시각의 자산화 — 글로벌 도구로 대체 불가능한 영역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검증 후 확장 — 리스크 최소화하며 지속 가능한 진화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|  리스크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리스크 및 대응 방안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868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8686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664208"/>
            <a:ext cx="6400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642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 (hallucination) 위험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임팩트: 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학술 요약은 신뢰도를 단번에 무너뜨림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7627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대응: </a:t>
            </a:r>
            <a:r>
              <a:rPr lang="en-US" sz="105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1·2는 본문 요약 안 함 → 환각 위험 최소. Phase 3 진입 시 원문 인용·페이지 명시 의무화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8046720" cy="868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60320"/>
            <a:ext cx="73152" cy="8686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670048"/>
            <a:ext cx="6400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2651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 이슈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97180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임팩트: 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학술지 본문은 저작권 보호. 무단 인용 시 법적 리스크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18211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대응: </a:t>
            </a:r>
            <a:r>
              <a:rPr lang="en-US" sz="105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1·2 메타데이터는 저작권 무관. Phase 3는 사내 한정 + 15단어 이하 인용·패러프레이즈 원칙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8046720" cy="86868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566160"/>
            <a:ext cx="73152" cy="86868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675888"/>
            <a:ext cx="64008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6758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3657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채택 불확실성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9776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임팩트: </a:t>
            </a:r>
            <a:r>
              <a:rPr lang="en-US" sz="1050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임원이 매월 학술 브리핑을 진짜 읽을지 미지수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18795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대응: </a:t>
            </a:r>
            <a:r>
              <a:rPr lang="en-US" sz="1050" b="1" dirty="0">
                <a:solidFill>
                  <a:srgbClr val="2D31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단계적 접근으로 빠른 가치 입증. 임원·실무자용 분리 (임원 1페이지, 실무자 챗봇)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 |  다음 단계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 사항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73152" cy="11887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확보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정보과학회지·한국 학회지 PDF 접근 권한 확인.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외 해외 자료는 Phase 2 진입 시 검토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393192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691640"/>
            <a:ext cx="73152" cy="11887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0756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사업부 매핑 사전 작업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3957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3에서만 필요. 1·2 Phase 운영 중 삼성 기술 분류 체계 사전 마련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93192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63240"/>
            <a:ext cx="73152" cy="11887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447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 부서 선정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3767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사용자는 기술전략팀. Phase 2부터 </a:t>
            </a:r>
            <a:r>
              <a:rPr lang="ko-KR" alt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</a:t>
            </a:r>
            <a:r>
              <a:rPr lang="en-US" sz="1100" dirty="0" err="1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부서로</a:t>
            </a: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3931920" cy="1188720"/>
          </a:xfrm>
          <a:prstGeom prst="rect">
            <a:avLst/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063240"/>
            <a:ext cx="73152" cy="1188720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4472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인프라·예산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1은 AI Office 활용으로 추가 비용 거의 없음. Phase 3에서 Claude API (월 10~20만원 추정)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1117</Words>
  <Application>Microsoft Office PowerPoint</Application>
  <PresentationFormat>화면 슬라이드 쇼(16:9)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Samsung을 위한 기술 및 시장 Insight Service</dc:title>
  <dc:subject>PptxGenJS Presentation</dc:subject>
  <dc:creator>방정욱</dc:creator>
  <cp:lastModifiedBy>방정욱/기술기획1그룹(SR)/삼성전자</cp:lastModifiedBy>
  <cp:revision>6</cp:revision>
  <dcterms:created xsi:type="dcterms:W3CDTF">2026-05-19T02:48:13Z</dcterms:created>
  <dcterms:modified xsi:type="dcterms:W3CDTF">2026-05-19T03:29:53Z</dcterms:modified>
</cp:coreProperties>
</file>